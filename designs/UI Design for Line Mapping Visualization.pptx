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0305-0B27-EF8D-0652-DF2B82EB5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702C5-EEC7-4AFD-D190-0701EE15A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EDAAB-6FCE-CFF9-3C23-501DCE8C1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76B5E-F342-5B89-5BBA-82A2EFBD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FB6AF-1D94-CC25-4145-1747E629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98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0558-473C-493B-B348-CC623273F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C96BA-7698-8246-EEC6-45E8ACF12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98CB5-5344-DDBC-AF13-DD1E6FD4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22E25-77C8-19EB-BDB3-26496A51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7C170-6B4F-18FE-91A2-5A1FB656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71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9AB6-804D-41B7-60E4-0E5D9EBB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9FC85-430F-A0B8-EC04-2521BEE9C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27C5A-8EF9-A4A3-9613-841121EE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75BC8-96D9-8A4B-2960-287E92F74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A44B2-3DF7-D61D-3696-2F49AE09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6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8C0E-BD36-E55C-E30C-F161D231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4A87F-29FF-47A7-7352-33E3C9D16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FD78A-8226-A6AD-2560-C071E0D7E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2CA8E-149D-8090-C790-EB4FAEB3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BE63D-F0CB-5389-D1AD-CADE700D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E60B5-1776-5458-1C42-F0F107A7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29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1664D-33D1-7572-3F05-5EFE1E56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A413C-C6E8-A565-70B2-30F79AC96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1BB42-B596-D17A-E4F6-DE29D75D6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FBD6C-1F60-34C7-5400-13A7CB272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3480C-21D9-160A-F062-79D295D9A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D3E07-2441-478B-7F1D-B1959CBC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8065F1-AFFB-9211-C1E3-083E6B47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DE14A5-DA23-BF24-BF0B-B6A33BE7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0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CDA3-9FA4-B318-98EF-281FDBE6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D03A-089D-82B9-1F55-E5E89491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E44BC-70DF-0F24-D465-322A261E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56EB8-378C-4A27-A2BE-435730C9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64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3FEB7A-797D-295B-5D4E-00757B91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F7BD4-EE17-5995-245B-7567100A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FD335-FBF2-0AFE-BCB1-70ADA277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03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E6D1-988F-5FA2-207D-BB21AD52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F037E-83AC-A4A5-4CF5-9AA66699F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1EE21-0FBC-EC80-4F06-C761E22D1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D72B5-75BA-1903-7BCC-4A8C85280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531F4-2AB0-D543-D9C4-10B994E4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57D7C-2C0B-E5A6-22C4-7F33BACF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8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6CBF5-6D7E-1EA8-4732-274BEA5A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09D9FD-8989-8237-5C70-A9A8A003D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A8566-278B-8346-6A90-D80647581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B25E7-4865-7EA3-E9C1-675AE570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D9257-1E01-0140-1084-49345306D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0D83D-80B6-0200-FBA1-36F8EF09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47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0AA7F-802E-BABA-4644-40370A75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9BD77-FADE-9007-F761-BEC49316A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6440C-88F9-EC9E-A604-0EFD2794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B290-4C42-417D-3347-8560E32A8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3A25-B7EA-B823-EB5C-E5188071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421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7A678-52D0-AF90-1D4F-0EA30C7B1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002E7-9CE8-D628-3651-71B109E34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0640D-DB6F-EB9D-4A70-9020F6ED8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9A4C5-120D-046F-B3FC-9023A9F9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520F1-1F5F-8E05-5EB7-5574EDAA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93E18-657A-9B51-F7A6-EE2A6AF0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47131-30CC-AB67-5382-3CE05C8E4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3910-6EB8-CBC9-8BA6-F97F6B4A4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BB9C32-A4CA-4756-8A74-E2283E212B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0B33B-B317-A03D-D94C-64B4E229F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C7D19-2AFE-5AE6-8CD5-F09DA5474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04095-7E9D-4DAB-A7D5-BE2958CD0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90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FABD-9C54-F61D-A2C3-986858893D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UI Design for Line Mapping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3952C5-9D8C-4485-899C-0782F9842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COMP 3110 INTRODUCTION TO SOFTWARE ENGINEERING</a:t>
            </a:r>
          </a:p>
          <a:p>
            <a:r>
              <a:rPr lang="en-IN" dirty="0"/>
              <a:t>(VISUALIZING OLD VS NEW FILE DIFFERENCES)</a:t>
            </a:r>
          </a:p>
        </p:txBody>
      </p:sp>
    </p:spTree>
    <p:extLst>
      <p:ext uri="{BB962C8B-B14F-4D97-AF65-F5344CB8AC3E}">
        <p14:creationId xmlns:p14="http://schemas.microsoft.com/office/powerpoint/2010/main" val="167469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3A223-98BB-06C7-B1EC-588C92CEE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1305"/>
            <a:ext cx="10515600" cy="184484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This User Interface demonstrates how the tool will visualize the line number mappings between an old file and a new file. Old Files are displayed on the left, New files are displayed on the right, Lines connected using arrows.</a:t>
            </a:r>
          </a:p>
        </p:txBody>
      </p:sp>
    </p:spTree>
    <p:extLst>
      <p:ext uri="{BB962C8B-B14F-4D97-AF65-F5344CB8AC3E}">
        <p14:creationId xmlns:p14="http://schemas.microsoft.com/office/powerpoint/2010/main" val="20700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3848AAB-64E5-B789-54E4-18BEE0116D72}"/>
              </a:ext>
            </a:extLst>
          </p:cNvPr>
          <p:cNvSpPr/>
          <p:nvPr/>
        </p:nvSpPr>
        <p:spPr>
          <a:xfrm>
            <a:off x="221225" y="1759973"/>
            <a:ext cx="6120581" cy="3539613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3ED567-F6F5-2D67-6AAC-FDD7F6B06BC6}"/>
              </a:ext>
            </a:extLst>
          </p:cNvPr>
          <p:cNvSpPr/>
          <p:nvPr/>
        </p:nvSpPr>
        <p:spPr>
          <a:xfrm>
            <a:off x="6484373" y="1759972"/>
            <a:ext cx="5579807" cy="3539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D52DC6-A575-F690-6ACF-EAF2201E115F}"/>
              </a:ext>
            </a:extLst>
          </p:cNvPr>
          <p:cNvSpPr txBox="1"/>
          <p:nvPr/>
        </p:nvSpPr>
        <p:spPr>
          <a:xfrm>
            <a:off x="461598" y="2165684"/>
            <a:ext cx="56344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OLD FILE: ArrayReference.java</a:t>
            </a:r>
          </a:p>
          <a:p>
            <a:r>
              <a:rPr lang="en-IN" dirty="0">
                <a:solidFill>
                  <a:schemeClr val="bg1"/>
                </a:solidFill>
              </a:rPr>
              <a:t>Line 12: public </a:t>
            </a:r>
            <a:r>
              <a:rPr lang="en-IN" dirty="0" err="1">
                <a:solidFill>
                  <a:schemeClr val="bg1"/>
                </a:solidFill>
              </a:rPr>
              <a:t>TypeBinding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arrayElementBinding</a:t>
            </a:r>
            <a:r>
              <a:rPr lang="en-IN" dirty="0">
                <a:solidFill>
                  <a:schemeClr val="bg1"/>
                </a:solidFill>
              </a:rPr>
              <a:t>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Line 45: </a:t>
            </a:r>
            <a:r>
              <a:rPr lang="en-IN" dirty="0" err="1">
                <a:solidFill>
                  <a:schemeClr val="bg1"/>
                </a:solidFill>
              </a:rPr>
              <a:t>codeStream.arrayAtPut</a:t>
            </a:r>
            <a:r>
              <a:rPr lang="en-IN" dirty="0">
                <a:solidFill>
                  <a:schemeClr val="bg1"/>
                </a:solidFill>
              </a:rPr>
              <a:t>(arrayElementBinding.id, </a:t>
            </a:r>
            <a:r>
              <a:rPr lang="en-IN" dirty="0" err="1">
                <a:solidFill>
                  <a:schemeClr val="bg1"/>
                </a:solidFill>
              </a:rPr>
              <a:t>valueRequired</a:t>
            </a:r>
            <a:r>
              <a:rPr lang="en-IN" dirty="0">
                <a:solidFill>
                  <a:schemeClr val="bg1"/>
                </a:solidFill>
              </a:rPr>
              <a:t>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Line 67: </a:t>
            </a:r>
            <a:r>
              <a:rPr lang="en-IN" dirty="0" err="1">
                <a:solidFill>
                  <a:schemeClr val="bg1"/>
                </a:solidFill>
              </a:rPr>
              <a:t>this.expression</a:t>
            </a:r>
            <a:r>
              <a:rPr lang="en-IN" dirty="0">
                <a:solidFill>
                  <a:schemeClr val="bg1"/>
                </a:solidFill>
              </a:rPr>
              <a:t>= </a:t>
            </a:r>
            <a:r>
              <a:rPr lang="en-IN" dirty="0" err="1">
                <a:solidFill>
                  <a:schemeClr val="bg1"/>
                </a:solidFill>
              </a:rPr>
              <a:t>arrayElementBinding</a:t>
            </a:r>
            <a:r>
              <a:rPr lang="en-IN" dirty="0">
                <a:solidFill>
                  <a:schemeClr val="bg1"/>
                </a:solidFill>
              </a:rPr>
              <a:t>=((</a:t>
            </a:r>
            <a:r>
              <a:rPr lang="en-IN" dirty="0" err="1">
                <a:solidFill>
                  <a:schemeClr val="bg1"/>
                </a:solidFill>
              </a:rPr>
              <a:t>ArrayBinding</a:t>
            </a:r>
            <a:r>
              <a:rPr lang="en-IN" dirty="0">
                <a:solidFill>
                  <a:schemeClr val="bg1"/>
                </a:solidFill>
              </a:rPr>
              <a:t>) </a:t>
            </a:r>
            <a:r>
              <a:rPr lang="en-IN" dirty="0" err="1">
                <a:solidFill>
                  <a:schemeClr val="bg1"/>
                </a:solidFill>
              </a:rPr>
              <a:t>arrayTb</a:t>
            </a:r>
            <a:r>
              <a:rPr lang="en-IN" dirty="0">
                <a:solidFill>
                  <a:schemeClr val="bg1"/>
                </a:solidFill>
              </a:rPr>
              <a:t>).</a:t>
            </a:r>
            <a:r>
              <a:rPr lang="en-IN" dirty="0" err="1">
                <a:solidFill>
                  <a:schemeClr val="bg1"/>
                </a:solidFill>
              </a:rPr>
              <a:t>elementsType</a:t>
            </a:r>
            <a:r>
              <a:rPr lang="en-IN" dirty="0">
                <a:solidFill>
                  <a:schemeClr val="bg1"/>
                </a:solidFill>
              </a:rPr>
              <a:t>(scope);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1AD52-27A1-EA90-F4F2-7E3E5FEB8B30}"/>
              </a:ext>
            </a:extLst>
          </p:cNvPr>
          <p:cNvSpPr txBox="1"/>
          <p:nvPr/>
        </p:nvSpPr>
        <p:spPr>
          <a:xfrm>
            <a:off x="6593048" y="2165684"/>
            <a:ext cx="54711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NEW FILE: ArrayReference.java</a:t>
            </a:r>
          </a:p>
          <a:p>
            <a:r>
              <a:rPr lang="en-IN" dirty="0">
                <a:solidFill>
                  <a:schemeClr val="bg1"/>
                </a:solidFill>
              </a:rPr>
              <a:t>(deleted)</a:t>
            </a:r>
            <a:r>
              <a:rPr lang="en-IN" dirty="0">
                <a:solidFill>
                  <a:schemeClr val="bg1"/>
                </a:solidFill>
                <a:sym typeface="Wingdings" panose="05000000000000000000" pitchFamily="2" charset="2"/>
              </a:rPr>
              <a:t> Line 12 removed</a:t>
            </a:r>
          </a:p>
          <a:p>
            <a:endParaRPr lang="en-IN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IN" dirty="0">
                <a:solidFill>
                  <a:schemeClr val="bg1"/>
                </a:solidFill>
                <a:sym typeface="Wingdings" panose="05000000000000000000" pitchFamily="2" charset="2"/>
              </a:rPr>
              <a:t>Line 45 </a:t>
            </a:r>
            <a:r>
              <a:rPr lang="en-IN" dirty="0" err="1">
                <a:solidFill>
                  <a:schemeClr val="bg1"/>
                </a:solidFill>
                <a:sym typeface="Wingdings" panose="05000000000000000000" pitchFamily="2" charset="2"/>
              </a:rPr>
              <a:t>codeStream.arrayAtPut</a:t>
            </a:r>
            <a:r>
              <a:rPr lang="en-IN" dirty="0">
                <a:solidFill>
                  <a:schemeClr val="bg1"/>
                </a:solidFill>
                <a:sym typeface="Wingdings" panose="05000000000000000000" pitchFamily="2" charset="2"/>
              </a:rPr>
              <a:t>(this.resolvedType.id, </a:t>
            </a:r>
            <a:r>
              <a:rPr lang="en-IN" dirty="0" err="1">
                <a:solidFill>
                  <a:schemeClr val="bg1"/>
                </a:solidFill>
                <a:sym typeface="Wingdings" panose="05000000000000000000" pitchFamily="2" charset="2"/>
              </a:rPr>
              <a:t>valueRequired</a:t>
            </a:r>
            <a:r>
              <a:rPr lang="en-IN" dirty="0">
                <a:solidFill>
                  <a:schemeClr val="bg1"/>
                </a:solidFill>
                <a:sym typeface="Wingdings" panose="05000000000000000000" pitchFamily="2" charset="2"/>
              </a:rPr>
              <a:t>);</a:t>
            </a:r>
          </a:p>
          <a:p>
            <a:endParaRPr lang="en-IN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IN" dirty="0">
                <a:solidFill>
                  <a:schemeClr val="bg1"/>
                </a:solidFill>
                <a:sym typeface="Wingdings" panose="05000000000000000000" pitchFamily="2" charset="2"/>
              </a:rPr>
              <a:t>Line 67 </a:t>
            </a:r>
            <a:r>
              <a:rPr lang="en-IN" dirty="0" err="1">
                <a:solidFill>
                  <a:schemeClr val="bg1"/>
                </a:solidFill>
                <a:sym typeface="Wingdings" panose="05000000000000000000" pitchFamily="2" charset="2"/>
              </a:rPr>
              <a:t>this.resolvedType</a:t>
            </a:r>
            <a:r>
              <a:rPr lang="en-IN" dirty="0">
                <a:solidFill>
                  <a:schemeClr val="bg1"/>
                </a:solidFill>
                <a:sym typeface="Wingdings" panose="05000000000000000000" pitchFamily="2" charset="2"/>
              </a:rPr>
              <a:t>=((</a:t>
            </a:r>
            <a:r>
              <a:rPr lang="en-IN" dirty="0" err="1">
                <a:solidFill>
                  <a:schemeClr val="bg1"/>
                </a:solidFill>
                <a:sym typeface="Wingdings" panose="05000000000000000000" pitchFamily="2" charset="2"/>
              </a:rPr>
              <a:t>ArrayBinding</a:t>
            </a:r>
            <a:r>
              <a:rPr lang="en-IN" dirty="0">
                <a:solidFill>
                  <a:schemeClr val="bg1"/>
                </a:solidFill>
                <a:sym typeface="Wingdings" panose="05000000000000000000" pitchFamily="2" charset="2"/>
              </a:rPr>
              <a:t>)</a:t>
            </a:r>
            <a:r>
              <a:rPr lang="en-IN" dirty="0" err="1">
                <a:solidFill>
                  <a:schemeClr val="bg1"/>
                </a:solidFill>
                <a:sym typeface="Wingdings" panose="05000000000000000000" pitchFamily="2" charset="2"/>
              </a:rPr>
              <a:t>arrayType</a:t>
            </a:r>
            <a:r>
              <a:rPr lang="en-IN" dirty="0">
                <a:solidFill>
                  <a:schemeClr val="bg1"/>
                </a:solidFill>
                <a:sym typeface="Wingdings" panose="05000000000000000000" pitchFamily="2" charset="2"/>
              </a:rPr>
              <a:t>).</a:t>
            </a:r>
            <a:r>
              <a:rPr lang="en-IN" dirty="0" err="1">
                <a:solidFill>
                  <a:schemeClr val="bg1"/>
                </a:solidFill>
                <a:sym typeface="Wingdings" panose="05000000000000000000" pitchFamily="2" charset="2"/>
              </a:rPr>
              <a:t>elementsType</a:t>
            </a:r>
            <a:r>
              <a:rPr lang="en-IN" dirty="0">
                <a:solidFill>
                  <a:schemeClr val="bg1"/>
                </a:solidFill>
                <a:sym typeface="Wingdings" panose="05000000000000000000" pitchFamily="2" charset="2"/>
              </a:rPr>
              <a:t>(scope);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134FB9-26BD-439F-B302-63AF372475C4}"/>
              </a:ext>
            </a:extLst>
          </p:cNvPr>
          <p:cNvCxnSpPr/>
          <p:nvPr/>
        </p:nvCxnSpPr>
        <p:spPr>
          <a:xfrm>
            <a:off x="5644896" y="2657856"/>
            <a:ext cx="94815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3943B5-538F-00DB-D6E5-6D854DB3E2FB}"/>
              </a:ext>
            </a:extLst>
          </p:cNvPr>
          <p:cNvCxnSpPr/>
          <p:nvPr/>
        </p:nvCxnSpPr>
        <p:spPr>
          <a:xfrm>
            <a:off x="1792224" y="3206496"/>
            <a:ext cx="4800824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56F996-0DA0-82B9-5E7A-604F5829C333}"/>
              </a:ext>
            </a:extLst>
          </p:cNvPr>
          <p:cNvCxnSpPr/>
          <p:nvPr/>
        </p:nvCxnSpPr>
        <p:spPr>
          <a:xfrm>
            <a:off x="3182112" y="4267200"/>
            <a:ext cx="341093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B4EFD04-FEA0-2095-57D7-704EEFCBCABC}"/>
              </a:ext>
            </a:extLst>
          </p:cNvPr>
          <p:cNvSpPr/>
          <p:nvPr/>
        </p:nvSpPr>
        <p:spPr>
          <a:xfrm>
            <a:off x="7412736" y="0"/>
            <a:ext cx="4230624" cy="1488393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301C3E-8AF8-798B-1B44-CF586A8943BF}"/>
              </a:ext>
            </a:extLst>
          </p:cNvPr>
          <p:cNvCxnSpPr/>
          <p:nvPr/>
        </p:nvCxnSpPr>
        <p:spPr>
          <a:xfrm>
            <a:off x="7802880" y="365760"/>
            <a:ext cx="160934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A1F669-977B-D871-A9D1-9F7B5DC9281A}"/>
              </a:ext>
            </a:extLst>
          </p:cNvPr>
          <p:cNvCxnSpPr>
            <a:cxnSpLocks/>
          </p:cNvCxnSpPr>
          <p:nvPr/>
        </p:nvCxnSpPr>
        <p:spPr>
          <a:xfrm>
            <a:off x="7802880" y="890016"/>
            <a:ext cx="1609344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851C4C-E985-5901-D343-EE3BA1B53D50}"/>
              </a:ext>
            </a:extLst>
          </p:cNvPr>
          <p:cNvSpPr txBox="1"/>
          <p:nvPr/>
        </p:nvSpPr>
        <p:spPr>
          <a:xfrm>
            <a:off x="9528048" y="172121"/>
            <a:ext cx="1755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Deleted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Modified</a:t>
            </a:r>
          </a:p>
          <a:p>
            <a:r>
              <a:rPr lang="en-IN" dirty="0">
                <a:solidFill>
                  <a:schemeClr val="bg1"/>
                </a:solidFill>
              </a:rPr>
              <a:t>Renamed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8CA20-8D5E-73B5-268D-3460CFF42F78}"/>
              </a:ext>
            </a:extLst>
          </p:cNvPr>
          <p:cNvSpPr txBox="1"/>
          <p:nvPr/>
        </p:nvSpPr>
        <p:spPr>
          <a:xfrm>
            <a:off x="8656320" y="-77208"/>
            <a:ext cx="262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E6A28C-4633-9743-2C87-6CE10756F274}"/>
              </a:ext>
            </a:extLst>
          </p:cNvPr>
          <p:cNvCxnSpPr>
            <a:cxnSpLocks/>
          </p:cNvCxnSpPr>
          <p:nvPr/>
        </p:nvCxnSpPr>
        <p:spPr>
          <a:xfrm>
            <a:off x="1060704" y="5193792"/>
            <a:ext cx="9375648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CA4EF8-F441-3E51-F5A0-5BD56C3B4AE5}"/>
              </a:ext>
            </a:extLst>
          </p:cNvPr>
          <p:cNvCxnSpPr>
            <a:cxnSpLocks/>
          </p:cNvCxnSpPr>
          <p:nvPr/>
        </p:nvCxnSpPr>
        <p:spPr>
          <a:xfrm>
            <a:off x="1072896" y="5028006"/>
            <a:ext cx="0" cy="16578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5BD30F-2585-0803-4C7C-8A57C1B4369C}"/>
              </a:ext>
            </a:extLst>
          </p:cNvPr>
          <p:cNvCxnSpPr/>
          <p:nvPr/>
        </p:nvCxnSpPr>
        <p:spPr>
          <a:xfrm flipV="1">
            <a:off x="10351008" y="4754880"/>
            <a:ext cx="0" cy="43891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146F90-5AA3-94E5-204D-2A0F1C8FBB5F}"/>
              </a:ext>
            </a:extLst>
          </p:cNvPr>
          <p:cNvCxnSpPr/>
          <p:nvPr/>
        </p:nvCxnSpPr>
        <p:spPr>
          <a:xfrm>
            <a:off x="7888224" y="1219200"/>
            <a:ext cx="1524000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6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4365B-9832-09A4-A92C-D043C44D2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736" y="2276856"/>
            <a:ext cx="10515600" cy="23042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This UI </a:t>
            </a:r>
            <a:r>
              <a:rPr lang="en-IN" dirty="0" err="1"/>
              <a:t>mockup</a:t>
            </a:r>
            <a:r>
              <a:rPr lang="en-IN" dirty="0"/>
              <a:t> visualizes the mapping between the old and new versions of ArrayReference.java. Deleted files appear in Red and Modified Lines(</a:t>
            </a:r>
            <a:r>
              <a:rPr lang="en-IN" dirty="0" err="1"/>
              <a:t>eg</a:t>
            </a:r>
            <a:r>
              <a:rPr lang="en-IN" dirty="0"/>
              <a:t> </a:t>
            </a:r>
            <a:r>
              <a:rPr lang="en-IN" dirty="0" err="1"/>
              <a:t>arrayAtPut</a:t>
            </a:r>
            <a:r>
              <a:rPr lang="en-IN" dirty="0"/>
              <a:t> and the rewritten </a:t>
            </a:r>
            <a:r>
              <a:rPr lang="en-IN" dirty="0" err="1"/>
              <a:t>resolveType</a:t>
            </a:r>
            <a:r>
              <a:rPr lang="en-IN" dirty="0"/>
              <a:t> method) are connected with blue arrows. Renamed Variables(</a:t>
            </a:r>
            <a:r>
              <a:rPr lang="en-IN" dirty="0" err="1"/>
              <a:t>eg</a:t>
            </a:r>
            <a:r>
              <a:rPr lang="en-IN" dirty="0"/>
              <a:t> </a:t>
            </a:r>
            <a:r>
              <a:rPr lang="en-IN" dirty="0" err="1"/>
              <a:t>arrayTb</a:t>
            </a:r>
            <a:r>
              <a:rPr lang="en-IN" dirty="0" err="1">
                <a:sym typeface="Wingdings" panose="05000000000000000000" pitchFamily="2" charset="2"/>
              </a:rPr>
              <a:t>arrayType</a:t>
            </a:r>
            <a:r>
              <a:rPr lang="en-IN" dirty="0">
                <a:sym typeface="Wingdings" panose="05000000000000000000" pitchFamily="2" charset="2"/>
              </a:rPr>
              <a:t>) are highlighted in Purple. Black boxes represent the two file versions.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4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214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UI Design for Line Mapping Visualization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Paramjit Sidhu</dc:creator>
  <cp:lastModifiedBy>Paramjit Sidhu</cp:lastModifiedBy>
  <cp:revision>1</cp:revision>
  <dcterms:created xsi:type="dcterms:W3CDTF">2025-12-05T03:08:28Z</dcterms:created>
  <dcterms:modified xsi:type="dcterms:W3CDTF">2025-12-05T03:44:45Z</dcterms:modified>
</cp:coreProperties>
</file>